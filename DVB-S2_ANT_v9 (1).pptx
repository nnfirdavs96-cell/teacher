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jpe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96012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00B4D8">
              <a:alpha val="8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95097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МАСТЕР-КЛАСС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7863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DVB-S2 / АНТ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502920" y="26974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Настройка приёма системы MMDS на офсетную антенну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02920" y="3429000"/>
            <a:ext cx="1664208" cy="384048"/>
          </a:xfrm>
          <a:prstGeom prst="roundRect">
            <a:avLst>
              <a:gd name="adj" fmla="val 50000"/>
            </a:avLst>
          </a:prstGeom>
          <a:solidFill>
            <a:srgbClr val="0D2B55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419856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Передатчик АНТ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85416" y="3419856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B4D8"/>
                </a:solidFill>
              </a:rPr>
              <a:t>›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331720" y="3429000"/>
            <a:ext cx="1568196" cy="384048"/>
          </a:xfrm>
          <a:prstGeom prst="roundRect">
            <a:avLst>
              <a:gd name="adj" fmla="val 50000"/>
            </a:avLst>
          </a:prstGeom>
          <a:solidFill>
            <a:srgbClr val="0D2B55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3419856"/>
            <a:ext cx="15681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Тарелка 60 см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918204" y="3419856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B4D8"/>
                </a:solidFill>
              </a:rPr>
              <a:t>›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064508" y="3429000"/>
            <a:ext cx="1184148" cy="384048"/>
          </a:xfrm>
          <a:prstGeom prst="roundRect">
            <a:avLst>
              <a:gd name="adj" fmla="val 50000"/>
            </a:avLst>
          </a:prstGeom>
          <a:solidFill>
            <a:srgbClr val="0D2B55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64508" y="3419856"/>
            <a:ext cx="11841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Конвертор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266944" y="3419856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B4D8"/>
                </a:solidFill>
              </a:rPr>
              <a:t>›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13248" y="3429000"/>
            <a:ext cx="1376172" cy="384048"/>
          </a:xfrm>
          <a:prstGeom prst="roundRect">
            <a:avLst>
              <a:gd name="adj" fmla="val 50000"/>
            </a:avLst>
          </a:prstGeom>
          <a:solidFill>
            <a:srgbClr val="0D2B55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13248" y="3419856"/>
            <a:ext cx="13761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Кабель RG-6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07708" y="3419856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B4D8"/>
                </a:solidFill>
              </a:rPr>
              <a:t>›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954012" y="3429000"/>
            <a:ext cx="992124" cy="384048"/>
          </a:xfrm>
          <a:prstGeom prst="roundRect">
            <a:avLst>
              <a:gd name="adj" fmla="val 50000"/>
            </a:avLst>
          </a:prstGeom>
          <a:solidFill>
            <a:srgbClr val="0D2B55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54012" y="3419856"/>
            <a:ext cx="9921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Ресивер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4160520"/>
            <a:ext cx="2377440" cy="4572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2976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Режим 8PSK · FEC 3/4   |   Уровень в dBmW   |   4 июня 2025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30352" y="960120"/>
            <a:ext cx="146304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234440"/>
            <a:ext cx="3931920" cy="713232"/>
          </a:xfrm>
          <a:prstGeom prst="roundRect">
            <a:avLst>
              <a:gd name="adj" fmla="val 10256"/>
            </a:avLst>
          </a:prstGeom>
          <a:solidFill>
            <a:srgbClr val="0D2B55">
              <a:alpha val="75000"/>
            </a:srgbClr>
          </a:solidFill>
          <a:ln w="9525">
            <a:solidFill>
              <a:srgbClr val="2442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135331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52728" y="132588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АНТ / MMDS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252728" y="163677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 без спутника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2075688"/>
            <a:ext cx="3931920" cy="713232"/>
          </a:xfrm>
          <a:prstGeom prst="roundRect">
            <a:avLst>
              <a:gd name="adj" fmla="val 10256"/>
            </a:avLst>
          </a:prstGeom>
          <a:solidFill>
            <a:srgbClr val="0D2B55">
              <a:alpha val="75000"/>
            </a:srgbClr>
          </a:solidFill>
          <a:ln w="9525">
            <a:solidFill>
              <a:srgbClr val="2442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" y="219456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52728" y="216712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Офсетная тарелка 60 см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252728" y="247802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сигнал попадает на конвертор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916936"/>
            <a:ext cx="3931920" cy="713232"/>
          </a:xfrm>
          <a:prstGeom prst="roundRect">
            <a:avLst>
              <a:gd name="adj" fmla="val 10256"/>
            </a:avLst>
          </a:prstGeom>
          <a:solidFill>
            <a:srgbClr val="0D2B55">
              <a:alpha val="75000"/>
            </a:srgbClr>
          </a:solidFill>
          <a:ln w="9525">
            <a:solidFill>
              <a:srgbClr val="2442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" y="3035808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252728" y="300837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Оборудование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252728" y="33192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Конвертор, RG-6, ресивер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758184"/>
            <a:ext cx="3931920" cy="713232"/>
          </a:xfrm>
          <a:prstGeom prst="roundRect">
            <a:avLst>
              <a:gd name="adj" fmla="val 10256"/>
            </a:avLst>
          </a:prstGeom>
          <a:solidFill>
            <a:srgbClr val="0D2B55">
              <a:alpha val="75000"/>
            </a:srgbClr>
          </a:solidFill>
          <a:ln w="9525">
            <a:solidFill>
              <a:srgbClr val="2442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" y="3877056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252728" y="384962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 сигнала, dBmW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252728" y="41605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Перегруз и как уменьшить сигнал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1234440"/>
            <a:ext cx="3931920" cy="713232"/>
          </a:xfrm>
          <a:prstGeom prst="roundRect">
            <a:avLst>
              <a:gd name="adj" fmla="val 10256"/>
            </a:avLst>
          </a:prstGeom>
          <a:solidFill>
            <a:srgbClr val="0D2B55">
              <a:alpha val="75000"/>
            </a:srgbClr>
          </a:solidFill>
          <a:ln w="9525">
            <a:solidFill>
              <a:srgbClr val="2442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18888" y="135331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458968" y="132588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Затухание кабеля RG-6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458968" y="163677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Крыша vs квартира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2075688"/>
            <a:ext cx="3931920" cy="713232"/>
          </a:xfrm>
          <a:prstGeom prst="roundRect">
            <a:avLst>
              <a:gd name="adj" fmla="val 10256"/>
            </a:avLst>
          </a:prstGeom>
          <a:solidFill>
            <a:srgbClr val="0D2B55">
              <a:alpha val="75000"/>
            </a:srgbClr>
          </a:solidFill>
          <a:ln w="9525">
            <a:solidFill>
              <a:srgbClr val="2442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18888" y="219456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458968" y="216712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8PSK · C/N vs MER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458968" y="247802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Пороги и разница параметров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2916936"/>
            <a:ext cx="3931920" cy="713232"/>
          </a:xfrm>
          <a:prstGeom prst="roundRect">
            <a:avLst>
              <a:gd name="adj" fmla="val 10256"/>
            </a:avLst>
          </a:prstGeom>
          <a:solidFill>
            <a:srgbClr val="0D2B55">
              <a:alpha val="75000"/>
            </a:srgbClr>
          </a:solidFill>
          <a:ln w="9525">
            <a:solidFill>
              <a:srgbClr val="2442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18888" y="3035808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5458968" y="300837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Поляризация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458968" y="33192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Поворот конвертора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09160" y="3758184"/>
            <a:ext cx="3931920" cy="713232"/>
          </a:xfrm>
          <a:prstGeom prst="roundRect">
            <a:avLst>
              <a:gd name="adj" fmla="val 10256"/>
            </a:avLst>
          </a:prstGeom>
          <a:solidFill>
            <a:srgbClr val="0D2B55">
              <a:alpha val="75000"/>
            </a:srgbClr>
          </a:solidFill>
          <a:ln w="9525">
            <a:solidFill>
              <a:srgbClr val="2442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18888" y="3877056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5458968" y="384962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 наводки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5458968" y="41605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Пошаговый алгоритм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00B4D8">
                    <a:alpha val="2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566928" y="2697480"/>
            <a:ext cx="640080" cy="54864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8346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АНТ / MMDS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66928" y="3703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Раздача ТВ-сигнала по радиоканалу — без спутника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10896"/>
            <a:ext cx="82296" cy="47548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5603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работает система АНТ (MMDS)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76072" y="7498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ПУТЬ СИГНАЛА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243584" cy="1371600"/>
          </a:xfrm>
          <a:prstGeom prst="roundRect">
            <a:avLst>
              <a:gd name="adj" fmla="val 7353"/>
            </a:avLst>
          </a:prstGeom>
          <a:solidFill>
            <a:srgbClr val="0A1628"/>
          </a:solidFill>
          <a:ln/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325880"/>
            <a:ext cx="1152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Студия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938528"/>
            <a:ext cx="1152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ТВ-каналы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700784" y="17830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B4D8"/>
                </a:solidFill>
              </a:rPr>
              <a:t>▶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883664" y="1234440"/>
            <a:ext cx="1243584" cy="1371600"/>
          </a:xfrm>
          <a:prstGeom prst="roundRect">
            <a:avLst>
              <a:gd name="adj" fmla="val 7353"/>
            </a:avLst>
          </a:prstGeom>
          <a:solidFill>
            <a:srgbClr val="0D2B55"/>
          </a:solidFill>
          <a:ln/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29384" y="1325880"/>
            <a:ext cx="1152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Головная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станция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9384" y="1938528"/>
            <a:ext cx="1152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Кодирование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DVB-S2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127248" y="17830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B4D8"/>
                </a:solidFill>
              </a:rPr>
              <a:t>▶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10128" y="1234440"/>
            <a:ext cx="1243584" cy="1371600"/>
          </a:xfrm>
          <a:prstGeom prst="roundRect">
            <a:avLst>
              <a:gd name="adj" fmla="val 7353"/>
            </a:avLst>
          </a:prstGeom>
          <a:solidFill>
            <a:srgbClr val="1565C0"/>
          </a:solidFill>
          <a:ln/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55848" y="1325880"/>
            <a:ext cx="1152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Передатчик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АНТ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55848" y="1938528"/>
            <a:ext cx="1152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Ku-band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наземный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53712" y="17830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B4D8"/>
                </a:solidFill>
              </a:rPr>
              <a:t>▶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36592" y="1234440"/>
            <a:ext cx="1243584" cy="1371600"/>
          </a:xfrm>
          <a:prstGeom prst="roundRect">
            <a:avLst>
              <a:gd name="adj" fmla="val 7353"/>
            </a:avLst>
          </a:prstGeom>
          <a:solidFill>
            <a:srgbClr val="1976D2"/>
          </a:solidFill>
          <a:ln/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82312" y="1325880"/>
            <a:ext cx="1152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Конвертор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LNB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82312" y="1938528"/>
            <a:ext cx="1152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L-band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кабель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80176" y="17830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B4D8"/>
                </a:solidFill>
              </a:rPr>
              <a:t>▶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63056" y="1234440"/>
            <a:ext cx="1243584" cy="1371600"/>
          </a:xfrm>
          <a:prstGeom prst="roundRect">
            <a:avLst>
              <a:gd name="adj" fmla="val 7353"/>
            </a:avLst>
          </a:prstGeom>
          <a:solidFill>
            <a:srgbClr val="2E7D32"/>
          </a:solidFill>
          <a:ln/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08776" y="1325880"/>
            <a:ext cx="1152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Ресивер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DVB-S2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08776" y="1938528"/>
            <a:ext cx="1152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Демодуляция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8PSK 3/4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406640" y="17830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B4D8"/>
                </a:solidFill>
              </a:rPr>
              <a:t>▶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589520" y="1234440"/>
            <a:ext cx="1243584" cy="1371600"/>
          </a:xfrm>
          <a:prstGeom prst="roundRect">
            <a:avLst>
              <a:gd name="adj" fmla="val 7353"/>
            </a:avLst>
          </a:prstGeom>
          <a:solidFill>
            <a:srgbClr val="1B5E20"/>
          </a:solidFill>
          <a:ln/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635240" y="1325880"/>
            <a:ext cx="1152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ТВ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635240" y="1938528"/>
            <a:ext cx="1152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Просмотр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2834640"/>
            <a:ext cx="8193024" cy="566928"/>
          </a:xfrm>
          <a:prstGeom prst="roundRect">
            <a:avLst>
              <a:gd name="adj" fmla="val 12903"/>
            </a:avLst>
          </a:prstGeom>
          <a:solidFill>
            <a:srgbClr val="FFF8E7"/>
          </a:solidFill>
          <a:ln w="9525">
            <a:solidFill>
              <a:srgbClr val="E3EAF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0080" y="2862072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ГЛАВНОЕ:  </a:t>
            </a:r>
            <a:pPr indent="0" marL="0">
              <a:buNone/>
            </a:pPr>
            <a:r>
              <a:rPr lang="en-US" sz="12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системе АНТ нет спутника — передатчик стоит на вышке в городе. Антенна наводится НА ВЫШКУ (прямая видимость), а не на юг.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3611880"/>
            <a:ext cx="819302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3EAF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703320"/>
          <a:ext cx="7918704" cy="1207008"/>
        </p:xfrm>
        <a:graphic>
          <a:graphicData uri="http://schemas.openxmlformats.org/drawingml/2006/table">
            <a:tbl>
              <a:tblPr/>
              <a:tblGrid>
                <a:gridCol w="2103120"/>
                <a:gridCol w="3017520"/>
                <a:gridCol w="2798064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Параметр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АНТ / MMDS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Спутниковое ТВ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6E7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A1628"/>
                          </a:solidFill>
                        </a:rPr>
                        <a:t>Источник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A1628"/>
                          </a:solidFill>
                        </a:rPr>
                        <a:t>Наземный передатчик (вышка)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A1628"/>
                          </a:solidFill>
                        </a:rPr>
                        <a:t>Спутник (~36 000 км)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A1628"/>
                          </a:solidFill>
                        </a:rPr>
                        <a:t>Расстояние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A1628"/>
                          </a:solidFill>
                        </a:rPr>
                        <a:t>1–30 км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A1628"/>
                          </a:solidFill>
                        </a:rPr>
                        <a:t>36 000 км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A1628"/>
                          </a:solidFill>
                        </a:rPr>
                        <a:t>Наведение антенны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A1628"/>
                          </a:solidFill>
                        </a:rPr>
                        <a:t>На передатчик АНТ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A1628"/>
                          </a:solidFill>
                        </a:rPr>
                        <a:t>На спутник (юг)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A1628"/>
                          </a:solidFill>
                        </a:rPr>
                        <a:t>DiSEqC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A1628"/>
                          </a:solidFill>
                        </a:rPr>
                        <a:t>Не используется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A1628"/>
                          </a:solidFill>
                        </a:rPr>
                        <a:t>Иногда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00B4D8">
                    <a:alpha val="2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566928" y="2697480"/>
            <a:ext cx="640080" cy="54864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8346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Офсетная тарелка 60 см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66928" y="3703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именно сигнал попадает на конвертор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10896"/>
            <a:ext cx="82296" cy="47548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5603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 сигнала на офсетную антенну 60 см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76072" y="7498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ТРАССИРОВКА ЛУЧЕЙ</a:t>
            </a:r>
            <a:endParaRPr lang="en-US" sz="1100" dirty="0"/>
          </a:p>
        </p:txBody>
      </p:sp>
      <p:pic>
        <p:nvPicPr>
          <p:cNvPr id="5" name="Image 0" descr="d_dis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5989320" cy="3977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0" y="1051560"/>
            <a:ext cx="2606040" cy="38404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E3EAF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0" y="1051560"/>
            <a:ext cx="2606040" cy="457200"/>
          </a:xfrm>
          <a:prstGeom prst="roundRect">
            <a:avLst>
              <a:gd name="adj" fmla="val 16000"/>
            </a:avLst>
          </a:prstGeom>
          <a:solidFill>
            <a:srgbClr val="1565C0"/>
          </a:solidFill>
          <a:ln/>
        </p:spPr>
      </p:sp>
      <p:sp>
        <p:nvSpPr>
          <p:cNvPr id="8" name="Text 5"/>
          <p:cNvSpPr/>
          <p:nvPr/>
        </p:nvSpPr>
        <p:spPr>
          <a:xfrm>
            <a:off x="6537960" y="107899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работает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537960" y="1627632"/>
            <a:ext cx="310896" cy="3108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0" name="Text 7"/>
          <p:cNvSpPr/>
          <p:nvPr/>
        </p:nvSpPr>
        <p:spPr>
          <a:xfrm>
            <a:off x="6537960" y="1627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931152" y="1591056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Передатчик АНТ излучает радиосигнал Ku-диапазона со своей вышки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537960" y="2162556"/>
            <a:ext cx="310896" cy="3108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3" name="Text 10"/>
          <p:cNvSpPr/>
          <p:nvPr/>
        </p:nvSpPr>
        <p:spPr>
          <a:xfrm>
            <a:off x="6537960" y="21625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931152" y="212598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Лучи приходят к тарелке параллельным потоком под углом ~22°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537960" y="2697480"/>
            <a:ext cx="310896" cy="3108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6" name="Text 13"/>
          <p:cNvSpPr/>
          <p:nvPr/>
        </p:nvSpPr>
        <p:spPr>
          <a:xfrm>
            <a:off x="6537960" y="2697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931152" y="2660904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Параболическое зеркало отражает и фокусирует все лучи в одну точку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537960" y="3232404"/>
            <a:ext cx="310896" cy="3108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9" name="Text 16"/>
          <p:cNvSpPr/>
          <p:nvPr/>
        </p:nvSpPr>
        <p:spPr>
          <a:xfrm>
            <a:off x="6537960" y="32324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931152" y="3195828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точке фокуса (смещён ВНИЗ у офсета) стоит конвертор LNB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37960" y="3767328"/>
            <a:ext cx="310896" cy="3108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2" name="Text 19"/>
          <p:cNvSpPr/>
          <p:nvPr/>
        </p:nvSpPr>
        <p:spPr>
          <a:xfrm>
            <a:off x="6537960" y="3767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5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931152" y="3730752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LNB ловит сфокусированный сигнал, понижает частоту → L-band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537960" y="4302252"/>
            <a:ext cx="310896" cy="3108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5" name="Text 22"/>
          <p:cNvSpPr/>
          <p:nvPr/>
        </p:nvSpPr>
        <p:spPr>
          <a:xfrm>
            <a:off x="6537960" y="43022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6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931152" y="4265676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Сигнал по кабелю RG-6 идёт на ресивер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00B4D8">
                    <a:alpha val="2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566928" y="2697480"/>
            <a:ext cx="640080" cy="54864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8346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Оборудование абонента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66928" y="3703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Конвертор · Кабель RG-6 · Ресивер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10896"/>
            <a:ext cx="82296" cy="47548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5603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Оборудование абонента АНТ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76072" y="7498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ХАРАКТЕРИСТИКИ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23360" cy="184708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9525">
            <a:solidFill>
              <a:srgbClr val="E3EAF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4023360" cy="420624"/>
          </a:xfrm>
          <a:prstGeom prst="roundRect">
            <a:avLst>
              <a:gd name="adj" fmla="val 17391"/>
            </a:avLst>
          </a:prstGeom>
          <a:solidFill>
            <a:srgbClr val="0A1628"/>
          </a:solidFill>
          <a:ln/>
        </p:spPr>
      </p:sp>
      <p:sp>
        <p:nvSpPr>
          <p:cNvPr id="7" name="Text 5"/>
          <p:cNvSpPr/>
          <p:nvPr/>
        </p:nvSpPr>
        <p:spPr>
          <a:xfrm>
            <a:off x="603504" y="122529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Офсетная антенна 60 см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1682496"/>
            <a:ext cx="369417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Параболическая, смещённый фокус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Конвертор крепится СНИЗУ, не в центре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Стоит почти вертикально — это норма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Реальный луч приёма ~22° выше оси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см достаточно для городской зоны АНТ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023360" cy="184708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9525">
            <a:solidFill>
              <a:srgbClr val="E3EAF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188720"/>
            <a:ext cx="4023360" cy="420624"/>
          </a:xfrm>
          <a:prstGeom prst="roundRect">
            <a:avLst>
              <a:gd name="adj" fmla="val 17391"/>
            </a:avLst>
          </a:prstGeom>
          <a:solidFill>
            <a:srgbClr val="1565C0"/>
          </a:solidFill>
          <a:ln/>
        </p:spPr>
      </p:sp>
      <p:sp>
        <p:nvSpPr>
          <p:cNvPr id="11" name="Text 9"/>
          <p:cNvSpPr/>
          <p:nvPr/>
        </p:nvSpPr>
        <p:spPr>
          <a:xfrm>
            <a:off x="4809744" y="122529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Конвертор (LNB)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28032" y="1682496"/>
            <a:ext cx="369417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Вход: 10.7–12.75 ГГц (Ku-band)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Выход: 950–2150 МГц (L-band) на кабель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Питание 13В/18В от ресивера по кабелю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 (шум) ≤ 0.3 дБ — чем меньше тем лучше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Поворот по кругу = смена поляризации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127248"/>
            <a:ext cx="4023360" cy="184708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9525">
            <a:solidFill>
              <a:srgbClr val="E3EAF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127248"/>
            <a:ext cx="4023360" cy="420624"/>
          </a:xfrm>
          <a:prstGeom prst="roundRect">
            <a:avLst>
              <a:gd name="adj" fmla="val 17391"/>
            </a:avLst>
          </a:prstGeom>
          <a:solidFill>
            <a:srgbClr val="0277BD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" y="316382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Кабель RG-6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" y="3621024"/>
            <a:ext cx="369417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Коаксиал 75 Ом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Затухание растёт с частотой и длиной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Макс. длина для АНТ: 30–35 м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F-коннектор обжать плотно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Влажный/гнутый кабель = доп. потери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3127248"/>
            <a:ext cx="4023360" cy="184708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9525">
            <a:solidFill>
              <a:srgbClr val="E3EAF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3127248"/>
            <a:ext cx="4023360" cy="420624"/>
          </a:xfrm>
          <a:prstGeom prst="roundRect">
            <a:avLst>
              <a:gd name="adj" fmla="val 17391"/>
            </a:avLst>
          </a:prstGeom>
          <a:solidFill>
            <a:srgbClr val="2E7D32"/>
          </a:solidFill>
          <a:ln/>
        </p:spPr>
      </p:sp>
      <p:sp>
        <p:nvSpPr>
          <p:cNvPr id="19" name="Text 17"/>
          <p:cNvSpPr/>
          <p:nvPr/>
        </p:nvSpPr>
        <p:spPr>
          <a:xfrm>
            <a:off x="4809744" y="316382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Ресивер DVB-S2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28032" y="3621024"/>
            <a:ext cx="369417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Режим: 8PSK FEC 3/4 (наш для АНТ)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Питает конвертор: 13В или 18В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Меню: Level (dBmW), C/N, MER, BER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DiSEqC НЕ используется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Смотреть на C/N, а не на Level!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00B4D8">
                    <a:alpha val="2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566928" y="2697480"/>
            <a:ext cx="640080" cy="54864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8346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 сигнала, dBmW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66928" y="3703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высокий уровень = нет картинки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10896"/>
            <a:ext cx="82296" cy="47548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5603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 сигнала в dBmW — рабочие зоны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76072" y="7498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ПЕРЕГРУЗ ТОЖЕ ПЛОХО</a:t>
            </a:r>
            <a:endParaRPr lang="en-US" sz="1100" dirty="0"/>
          </a:p>
        </p:txBody>
      </p:sp>
      <p:pic>
        <p:nvPicPr>
          <p:cNvPr id="5" name="Image 0" descr="d_gau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60120"/>
            <a:ext cx="2606040" cy="3977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429000" y="105156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1F0"/>
          </a:solidFill>
          <a:ln w="9525">
            <a:solidFill>
              <a:srgbClr val="E3EAF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429000" y="1051560"/>
            <a:ext cx="5577840" cy="420624"/>
          </a:xfrm>
          <a:prstGeom prst="roundRect">
            <a:avLst>
              <a:gd name="adj" fmla="val 17391"/>
            </a:avLst>
          </a:prstGeom>
          <a:solidFill>
            <a:srgbClr val="C62828"/>
          </a:solidFill>
          <a:ln/>
        </p:spPr>
      </p:sp>
      <p:sp>
        <p:nvSpPr>
          <p:cNvPr id="8" name="Text 5"/>
          <p:cNvSpPr/>
          <p:nvPr/>
        </p:nvSpPr>
        <p:spPr>
          <a:xfrm>
            <a:off x="3584448" y="107899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перегруз = нет картинки?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11880" y="1554480"/>
            <a:ext cx="52578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 тюнера работает в линейном диапазоне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Слишком сильный сигнал → каскад в насыщении → созвездие 8PSK расплывается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 падает, BER растёт — ошибки не корректируются, картинки нет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уменьшить сигнал (аттенюатор ИЛИ способы без него — см. след. слайд)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29000" y="2880360"/>
            <a:ext cx="55778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9525">
            <a:solidFill>
              <a:srgbClr val="E3EAF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29000" y="2880360"/>
            <a:ext cx="5577840" cy="420624"/>
          </a:xfrm>
          <a:prstGeom prst="roundRect">
            <a:avLst>
              <a:gd name="adj" fmla="val 17391"/>
            </a:avLst>
          </a:prstGeom>
          <a:solidFill>
            <a:srgbClr val="0D2B55"/>
          </a:solidFill>
          <a:ln/>
        </p:spPr>
      </p:sp>
      <p:sp>
        <p:nvSpPr>
          <p:cNvPr id="12" name="Text 9"/>
          <p:cNvSpPr/>
          <p:nvPr/>
        </p:nvSpPr>
        <p:spPr>
          <a:xfrm>
            <a:off x="3584448" y="290779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такое dBmW и нормы для АНТ (8PSK 3/4)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3611880" y="3346704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dBmW (= dBm) — </a:t>
            </a:r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мощность сигнала относительно 1 мВт. Стандартная единица уровня в тюнерах DVB-S2. Чем ближе к 0, тем сильнее сигнал.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84448" y="3822192"/>
          <a:ext cx="5285232" cy="1005840"/>
        </p:xfrm>
        <a:graphic>
          <a:graphicData uri="http://schemas.openxmlformats.org/drawingml/2006/table">
            <a:tbl>
              <a:tblPr/>
              <a:tblGrid>
                <a:gridCol w="1188720"/>
                <a:gridCol w="2651760"/>
                <a:gridCol w="1444752"/>
              </a:tblGrid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Параметр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Норма (8PSK 3/4)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Тревога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A1628"/>
                          </a:solidFill>
                        </a:rPr>
                        <a:t>Level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</a:rPr>
                        <a:t>−65 … −35 dBmW (цель ≈ −50)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62828"/>
                          </a:solidFill>
                        </a:rPr>
                        <a:t>&lt; −75 или &gt; −25 dBmW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A1628"/>
                          </a:solidFill>
                        </a:rPr>
                        <a:t>C/N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</a:rPr>
                        <a:t>&gt; 11.4 дБ (порог 9.4)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62828"/>
                          </a:solidFill>
                        </a:rPr>
                        <a:t>&lt; 10 дБ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A1628"/>
                          </a:solidFill>
                        </a:rPr>
                        <a:t>MER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</a:rPr>
                        <a:t>&gt; 10 дБ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62828"/>
                          </a:solidFill>
                        </a:rPr>
                        <a:t>&lt; 8 дБ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A1628"/>
                          </a:solidFill>
                        </a:rPr>
                        <a:t>Post-BER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</a:rPr>
                        <a:t>= 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62828"/>
                          </a:solidFill>
                        </a:rPr>
                        <a:t>&gt; 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10896"/>
            <a:ext cx="82296" cy="47548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5603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уменьшить сигнал без аттенюатора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76072" y="7498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УРОВЕНЬ В ПЕРЕГРУЗЕ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558784" cy="566928"/>
          </a:xfrm>
          <a:prstGeom prst="roundRect">
            <a:avLst>
              <a:gd name="adj" fmla="val 12903"/>
            </a:avLst>
          </a:prstGeom>
          <a:solidFill>
            <a:srgbClr val="FFF8E7"/>
          </a:solidFill>
          <a:ln w="9525">
            <a:solidFill>
              <a:srgbClr val="E3EAF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7899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применять:  </a:t>
            </a:r>
            <a:pPr indent="0" marL="0">
              <a:buNone/>
            </a:pPr>
            <a:r>
              <a:rPr lang="en-US" sz="12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в красной зоне (&gt; −25 dBmW), MER низкий, картинка рассыпается — а аттенюатора под рукой нет.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4023360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3EAF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83080"/>
            <a:ext cx="4023360" cy="402336"/>
          </a:xfrm>
          <a:prstGeom prst="roundRect">
            <a:avLst>
              <a:gd name="adj" fmla="val 18182"/>
            </a:avLst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585216" y="1819656"/>
            <a:ext cx="3785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Длиннее / тоньше кабель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03504" y="2258568"/>
            <a:ext cx="374904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7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Добавь несколько метров кабеля RG-6</a:t>
            </a:r>
            <a:endParaRPr lang="en-US" sz="97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7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Каждые 10 м @ 2150 МГц ≈ −2.8 дБ</a:t>
            </a:r>
            <a:endParaRPr lang="en-US" sz="97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7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Самый простой способ ослабить на нужные дБ</a:t>
            </a:r>
            <a:endParaRPr lang="en-US" sz="97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7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Тонкий кабель (RG-59) затухает сильнее</a:t>
            </a:r>
            <a:endParaRPr lang="en-US" sz="970" dirty="0"/>
          </a:p>
        </p:txBody>
      </p:sp>
      <p:sp>
        <p:nvSpPr>
          <p:cNvPr id="11" name="Shape 9"/>
          <p:cNvSpPr/>
          <p:nvPr/>
        </p:nvSpPr>
        <p:spPr>
          <a:xfrm>
            <a:off x="4663440" y="1783080"/>
            <a:ext cx="4023360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3EAF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783080"/>
            <a:ext cx="4023360" cy="402336"/>
          </a:xfrm>
          <a:prstGeom prst="roundRect">
            <a:avLst>
              <a:gd name="adj" fmla="val 18182"/>
            </a:avLst>
          </a:prstGeom>
          <a:solidFill>
            <a:srgbClr val="2E7D32"/>
          </a:solidFill>
          <a:ln/>
        </p:spPr>
      </p:sp>
      <p:sp>
        <p:nvSpPr>
          <p:cNvPr id="13" name="Text 11"/>
          <p:cNvSpPr/>
          <p:nvPr/>
        </p:nvSpPr>
        <p:spPr>
          <a:xfrm>
            <a:off x="4791456" y="1819656"/>
            <a:ext cx="3785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Чуть сместить антенну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09744" y="2258568"/>
            <a:ext cx="374904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7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Отверни тарелку на доли градуса от максимума</a:t>
            </a:r>
            <a:endParaRPr lang="en-US" sz="97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7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падает, следи по MER чтобы не уйти в шум</a:t>
            </a:r>
            <a:endParaRPr lang="en-US" sz="97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7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Грубый, но рабочий приём в поле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457200" y="3429000"/>
            <a:ext cx="4023360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3EAF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429000"/>
            <a:ext cx="4023360" cy="402336"/>
          </a:xfrm>
          <a:prstGeom prst="roundRect">
            <a:avLst>
              <a:gd name="adj" fmla="val 18182"/>
            </a:avLst>
          </a:prstGeom>
          <a:solidFill>
            <a:srgbClr val="7B1FA2"/>
          </a:solidFill>
          <a:ln/>
        </p:spPr>
      </p:sp>
      <p:sp>
        <p:nvSpPr>
          <p:cNvPr id="17" name="Text 15"/>
          <p:cNvSpPr/>
          <p:nvPr/>
        </p:nvSpPr>
        <p:spPr>
          <a:xfrm>
            <a:off x="585216" y="3465576"/>
            <a:ext cx="3785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Повернуть конвертор по поляризации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3504" y="3904488"/>
            <a:ext cx="374904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7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Небольшой поворот LNB от максимума</a:t>
            </a:r>
            <a:endParaRPr lang="en-US" sz="97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7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Сигнал ослабляется на несколько дБ</a:t>
            </a:r>
            <a:endParaRPr lang="en-US" sz="97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7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 контролируй по C/N — не теряй Lock</a:t>
            </a: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4663440" y="3429000"/>
            <a:ext cx="4023360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3EAF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3429000"/>
            <a:ext cx="4023360" cy="402336"/>
          </a:xfrm>
          <a:prstGeom prst="roundRect">
            <a:avLst>
              <a:gd name="adj" fmla="val 18182"/>
            </a:avLst>
          </a:prstGeom>
          <a:solidFill>
            <a:srgbClr val="E65100"/>
          </a:solidFill>
          <a:ln/>
        </p:spPr>
      </p:sp>
      <p:sp>
        <p:nvSpPr>
          <p:cNvPr id="21" name="Text 19"/>
          <p:cNvSpPr/>
          <p:nvPr/>
        </p:nvSpPr>
        <p:spPr>
          <a:xfrm>
            <a:off x="4791456" y="3465576"/>
            <a:ext cx="3785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➗ Поставить ТВ-сплиттер / делитель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809744" y="3904488"/>
            <a:ext cx="374904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7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Делитель на 2 выхода даёт ≈ −4 дБ</a:t>
            </a:r>
            <a:endParaRPr lang="en-US" sz="97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7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4 выхода ≈ −7…8 дБ</a:t>
            </a:r>
            <a:endParaRPr lang="en-US" sz="97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7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Неиспользуемый выход — заглушить (75 Ом)</a:t>
            </a:r>
            <a:endParaRPr lang="en-US" sz="97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7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Дёшево и есть в любом магазине</a:t>
            </a:r>
            <a:endParaRPr lang="en-US" sz="97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00B4D8">
                    <a:alpha val="2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566928" y="2697480"/>
            <a:ext cx="640080" cy="54864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8346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Затухание кабеля RG-6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66928" y="3703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на крыше один уровень, а дома другой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10896"/>
            <a:ext cx="82296" cy="47548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5603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Кабель RG-6: затухание и потери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76072" y="7498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КРЫША → КВАРТИРА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5720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E3EAF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4572000" cy="402336"/>
          </a:xfrm>
          <a:prstGeom prst="roundRect">
            <a:avLst>
              <a:gd name="adj" fmla="val 18182"/>
            </a:avLst>
          </a:prstGeom>
          <a:solidFill>
            <a:srgbClr val="0D2B55"/>
          </a:solidFill>
          <a:ln/>
        </p:spPr>
      </p:sp>
      <p:sp>
        <p:nvSpPr>
          <p:cNvPr id="7" name="Text 5"/>
          <p:cNvSpPr/>
          <p:nvPr/>
        </p:nvSpPr>
        <p:spPr>
          <a:xfrm>
            <a:off x="603504" y="112471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Затухание RG-6 (дБ) по частоте и длине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572768"/>
          <a:ext cx="4279392" cy="1737360"/>
        </p:xfrm>
        <a:graphic>
          <a:graphicData uri="http://schemas.openxmlformats.org/drawingml/2006/table">
            <a:tbl>
              <a:tblPr/>
              <a:tblGrid>
                <a:gridCol w="1005840"/>
                <a:gridCol w="1088136"/>
                <a:gridCol w="1088136"/>
                <a:gridCol w="109728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Длина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950 МГц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1500 МГц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2150 МГц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10 м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1.3 дБ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2.0 дБ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2.8 дБ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20 м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2.7 дБ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4.0 дБ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5.5 дБ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30 м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4.0 дБ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6.0 дБ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8.3 дБ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40 м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5.4 дБ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8.0 дБ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11 дБ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50 м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6.8 дБ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10 дБ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14 дБ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3611880"/>
            <a:ext cx="4572000" cy="1325880"/>
          </a:xfrm>
          <a:prstGeom prst="roundRect">
            <a:avLst>
              <a:gd name="adj" fmla="val 5517"/>
            </a:avLst>
          </a:prstGeom>
          <a:solidFill>
            <a:srgbClr val="FFF8E7"/>
          </a:solidFill>
          <a:ln w="9525">
            <a:solidFill>
              <a:srgbClr val="E3EAF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0080" y="3703320"/>
            <a:ext cx="42062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 АНТ:  </a:t>
            </a:r>
            <a:pPr indent="0" marL="0">
              <a:buNone/>
            </a:pPr>
            <a:r>
              <a:rPr lang="en-US" sz="105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крыше у конвертора Level = −40 dBmW, C/N = 14.5 дБ. Кабель 15 м (−4.5 дБ) + 2 коннектора (−1 дБ) → в квартире Level ≈ −45.5 dBmW, C/N ≈ 12.5 дБ. Всё ещё в рабочей зоне!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257800" y="1097280"/>
            <a:ext cx="3749040" cy="384048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3EAF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257800" y="1097280"/>
            <a:ext cx="3749040" cy="402336"/>
          </a:xfrm>
          <a:prstGeom prst="roundRect">
            <a:avLst>
              <a:gd name="adj" fmla="val 18182"/>
            </a:avLst>
          </a:prstGeom>
          <a:solidFill>
            <a:srgbClr val="1565C0"/>
          </a:solidFill>
          <a:ln/>
        </p:spPr>
      </p:sp>
      <p:sp>
        <p:nvSpPr>
          <p:cNvPr id="13" name="Text 10"/>
          <p:cNvSpPr/>
          <p:nvPr/>
        </p:nvSpPr>
        <p:spPr>
          <a:xfrm>
            <a:off x="5404104" y="112471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Каскад потерь: крыша → квартира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40680" y="1627632"/>
            <a:ext cx="3383280" cy="530352"/>
          </a:xfrm>
          <a:prstGeom prst="roundRect">
            <a:avLst>
              <a:gd name="adj" fmla="val 10345"/>
            </a:avLst>
          </a:prstGeom>
          <a:solidFill>
            <a:srgbClr val="2E7D32"/>
          </a:solidFill>
          <a:ln/>
        </p:spPr>
      </p:sp>
      <p:sp>
        <p:nvSpPr>
          <p:cNvPr id="15" name="Text 12"/>
          <p:cNvSpPr/>
          <p:nvPr/>
        </p:nvSpPr>
        <p:spPr>
          <a:xfrm>
            <a:off x="5559552" y="167335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🔭 Конвертор на крыше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559552" y="190195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−40 dBmW · C/N 14.5 дБ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40680" y="2258568"/>
            <a:ext cx="3383280" cy="530352"/>
          </a:xfrm>
          <a:prstGeom prst="roundRect">
            <a:avLst>
              <a:gd name="adj" fmla="val 10345"/>
            </a:avLst>
          </a:prstGeom>
          <a:solidFill>
            <a:srgbClr val="E65100">
              <a:alpha val="22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5559552" y="230428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Кабель RG-6  15 м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559552" y="253288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−4.5 дБ @ 2150 МГц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440680" y="2889504"/>
            <a:ext cx="3383280" cy="530352"/>
          </a:xfrm>
          <a:prstGeom prst="roundRect">
            <a:avLst>
              <a:gd name="adj" fmla="val 10345"/>
            </a:avLst>
          </a:prstGeom>
          <a:solidFill>
            <a:srgbClr val="E65100">
              <a:alpha val="22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5559552" y="293522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F-коннекторы ×2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559552" y="316382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−1.0 дБ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440680" y="3520440"/>
            <a:ext cx="3383280" cy="530352"/>
          </a:xfrm>
          <a:prstGeom prst="roundRect">
            <a:avLst>
              <a:gd name="adj" fmla="val 10345"/>
            </a:avLst>
          </a:prstGeom>
          <a:solidFill>
            <a:srgbClr val="C62828">
              <a:alpha val="22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5559552" y="356616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Разветвитель (если есть)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559552" y="379476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−4.0 дБ на выход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5440680" y="4151376"/>
            <a:ext cx="3383280" cy="530352"/>
          </a:xfrm>
          <a:prstGeom prst="roundRect">
            <a:avLst>
              <a:gd name="adj" fmla="val 10345"/>
            </a:avLst>
          </a:prstGeom>
          <a:solidFill>
            <a:srgbClr val="2E7D32"/>
          </a:solidFill>
          <a:ln/>
        </p:spPr>
      </p:sp>
      <p:sp>
        <p:nvSpPr>
          <p:cNvPr id="27" name="Text 24"/>
          <p:cNvSpPr/>
          <p:nvPr/>
        </p:nvSpPr>
        <p:spPr>
          <a:xfrm>
            <a:off x="5559552" y="41970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Ресивер в квартире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559552" y="442569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−45.5 dBmW · C/N 12.5 дБ ✅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00B4D8">
                    <a:alpha val="2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566928" y="2697480"/>
            <a:ext cx="640080" cy="54864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8346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8PSK FEC 3/4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66928" y="3703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C/N · MER · BER — при каком уровне меняются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10896"/>
            <a:ext cx="82296" cy="47548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5603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8PSK FEC 3/4 — наш режим АНТ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76072" y="7498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СОЗВЕЗДИЕ И ПОРОГИ</a:t>
            </a:r>
            <a:endParaRPr lang="en-US" sz="1100" dirty="0"/>
          </a:p>
        </p:txBody>
      </p:sp>
      <p:pic>
        <p:nvPicPr>
          <p:cNvPr id="5" name="Image 0" descr="d_const_goo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1965960" cy="1965960"/>
          </a:xfrm>
          <a:prstGeom prst="rect">
            <a:avLst/>
          </a:prstGeom>
        </p:spPr>
      </p:pic>
      <p:pic>
        <p:nvPicPr>
          <p:cNvPr id="6" name="Image 1" descr="d_const_b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0"/>
            <a:ext cx="1965960" cy="19659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697480" y="1143000"/>
            <a:ext cx="6309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3EAF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2834640" y="128016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C62828"/>
          </a:solidFill>
          <a:ln/>
        </p:spPr>
      </p:sp>
      <p:sp>
        <p:nvSpPr>
          <p:cNvPr id="9" name="Text 5"/>
          <p:cNvSpPr/>
          <p:nvPr/>
        </p:nvSpPr>
        <p:spPr>
          <a:xfrm>
            <a:off x="2834640" y="12984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2834640" y="170078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75000"/>
                  </a:srgbClr>
                </a:solidFill>
              </a:rPr>
              <a:t>дБ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2834640" y="186537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Порог C/N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4352544" y="128016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E65100"/>
          </a:solidFill>
          <a:ln/>
        </p:spPr>
      </p:sp>
      <p:sp>
        <p:nvSpPr>
          <p:cNvPr id="13" name="Text 9"/>
          <p:cNvSpPr/>
          <p:nvPr/>
        </p:nvSpPr>
        <p:spPr>
          <a:xfrm>
            <a:off x="4352544" y="12984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11.4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4352544" y="170078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75000"/>
                  </a:srgbClr>
                </a:solidFill>
              </a:rPr>
              <a:t>дБ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4352544" y="186537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Рабочий (+2)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5870448" y="128016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1565C0"/>
          </a:solidFill>
          <a:ln/>
        </p:spPr>
      </p:sp>
      <p:sp>
        <p:nvSpPr>
          <p:cNvPr id="17" name="Text 13"/>
          <p:cNvSpPr/>
          <p:nvPr/>
        </p:nvSpPr>
        <p:spPr>
          <a:xfrm>
            <a:off x="5870448" y="12984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4"/>
          <p:cNvSpPr/>
          <p:nvPr/>
        </p:nvSpPr>
        <p:spPr>
          <a:xfrm>
            <a:off x="5870448" y="170078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75000"/>
                  </a:srgbClr>
                </a:solidFill>
              </a:rPr>
              <a:t>бит/с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5870448" y="186537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8PSK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7388352" y="128016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2E7D32"/>
          </a:solidFill>
          <a:ln/>
        </p:spPr>
      </p:sp>
      <p:sp>
        <p:nvSpPr>
          <p:cNvPr id="21" name="Text 17"/>
          <p:cNvSpPr/>
          <p:nvPr/>
        </p:nvSpPr>
        <p:spPr>
          <a:xfrm>
            <a:off x="7388352" y="12984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600" dirty="0"/>
          </a:p>
        </p:txBody>
      </p:sp>
      <p:sp>
        <p:nvSpPr>
          <p:cNvPr id="22" name="Text 18"/>
          <p:cNvSpPr/>
          <p:nvPr/>
        </p:nvSpPr>
        <p:spPr>
          <a:xfrm>
            <a:off x="7388352" y="170078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7388352" y="186537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Post-BER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2697480" y="2331720"/>
            <a:ext cx="630936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E3EAF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2697480" y="2331720"/>
            <a:ext cx="6309360" cy="402336"/>
          </a:xfrm>
          <a:prstGeom prst="roundRect">
            <a:avLst>
              <a:gd name="adj" fmla="val 18182"/>
            </a:avLst>
          </a:prstGeom>
          <a:solidFill>
            <a:srgbClr val="0D2B55"/>
          </a:solidFill>
          <a:ln/>
        </p:spPr>
      </p:sp>
      <p:sp>
        <p:nvSpPr>
          <p:cNvPr id="26" name="Text 22"/>
          <p:cNvSpPr/>
          <p:nvPr/>
        </p:nvSpPr>
        <p:spPr>
          <a:xfrm>
            <a:off x="2843784" y="2359152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меняются C/N → MER → BER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843784" y="2788920"/>
          <a:ext cx="6016752" cy="2057400"/>
        </p:xfrm>
        <a:graphic>
          <a:graphicData uri="http://schemas.openxmlformats.org/drawingml/2006/table">
            <a:tbl>
              <a:tblPr/>
              <a:tblGrid>
                <a:gridCol w="1234440"/>
                <a:gridCol w="777240"/>
                <a:gridCol w="713232"/>
                <a:gridCol w="914400"/>
                <a:gridCol w="914400"/>
                <a:gridCol w="14630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Зона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C/N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Pre-BER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Post-BER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Результат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❌ Нет Lock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</a:rPr>
                        <a:t>&lt; 9.4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</a:rPr>
                        <a:t>&lt; 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</a:rPr>
                        <a:t>&gt; 1e−2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</a:rPr>
                        <a:t>≠ 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62828"/>
                          </a:solidFill>
                        </a:rPr>
                        <a:t>Нет картинки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E65100"/>
                          </a:solidFill>
                        </a:rPr>
                        <a:t>⚠ Cliff-edge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</a:rPr>
                        <a:t>9.4–10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</a:rPr>
                        <a:t>7–9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</a:rPr>
                        <a:t>~1e−3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</a:rPr>
                        <a:t>Иногда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E65100"/>
                          </a:solidFill>
                        </a:rPr>
                        <a:t>Блоки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</a:rPr>
                        <a:t>✅ Рабочая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</a:rPr>
                        <a:t>11–13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</a:rPr>
                        <a:t>10–12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</a:rPr>
                        <a:t>&lt; 1e−4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</a:rPr>
                        <a:t>= 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E7D32"/>
                          </a:solidFill>
                        </a:rPr>
                        <a:t>Норма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</a:rPr>
                        <a:t>✅✅ Отличная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</a:rPr>
                        <a:t>&gt; 13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</a:rPr>
                        <a:t>&gt; 12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</a:rPr>
                        <a:t>&lt; 1e−5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A1628"/>
                          </a:solidFill>
                        </a:rPr>
                        <a:t>= 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E7D32"/>
                          </a:solidFill>
                        </a:rPr>
                        <a:t>Запас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10896"/>
            <a:ext cx="82296" cy="47548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5603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Разница между C/N и MER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76072" y="7498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ПАРАМЕТРА КАЧЕСТВА</a:t>
            </a:r>
            <a:endParaRPr lang="en-US" sz="1100" dirty="0"/>
          </a:p>
        </p:txBody>
      </p:sp>
      <p:pic>
        <p:nvPicPr>
          <p:cNvPr id="5" name="Image 0" descr="d_cnm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5897880" cy="2057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3154680"/>
            <a:ext cx="2880360" cy="1755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3EAF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3154680"/>
            <a:ext cx="2880360" cy="402336"/>
          </a:xfrm>
          <a:prstGeom prst="roundRect">
            <a:avLst>
              <a:gd name="adj" fmla="val 18182"/>
            </a:avLst>
          </a:prstGeom>
          <a:solidFill>
            <a:srgbClr val="000000"/>
          </a:solidFill>
          <a:ln/>
        </p:spPr>
      </p:sp>
      <p:sp>
        <p:nvSpPr>
          <p:cNvPr id="8" name="Text 5"/>
          <p:cNvSpPr/>
          <p:nvPr/>
        </p:nvSpPr>
        <p:spPr>
          <a:xfrm>
            <a:off x="448056" y="3200400"/>
            <a:ext cx="2642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C/N — Carrier-to-Noise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66344" y="3630168"/>
            <a:ext cx="260604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Отношение мощности несущей к шуму</a:t>
            </a:r>
            <a:endParaRPr lang="en-US" sz="93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Измеряется в АНАЛОГОВОМ тракте (до демодулятора)</a:t>
            </a:r>
            <a:endParaRPr lang="en-US" sz="93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Зависит от: антенна, LNB, кабель, эфирные помехи</a:t>
            </a:r>
            <a:endParaRPr lang="en-US" sz="93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Показывает «насколько сигнал громче шума»</a:t>
            </a:r>
            <a:endParaRPr lang="en-US" sz="93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Удобен для НАВОДКИ антенны (быстро реагирует)</a:t>
            </a:r>
            <a:endParaRPr lang="en-US" sz="930" dirty="0"/>
          </a:p>
        </p:txBody>
      </p:sp>
      <p:sp>
        <p:nvSpPr>
          <p:cNvPr id="10" name="Shape 7"/>
          <p:cNvSpPr/>
          <p:nvPr/>
        </p:nvSpPr>
        <p:spPr>
          <a:xfrm>
            <a:off x="3337560" y="3154680"/>
            <a:ext cx="2880360" cy="1755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3EAF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37560" y="3154680"/>
            <a:ext cx="2880360" cy="402336"/>
          </a:xfrm>
          <a:prstGeom prst="roundRect">
            <a:avLst>
              <a:gd name="adj" fmla="val 18182"/>
            </a:avLst>
          </a:prstGeom>
          <a:solidFill>
            <a:srgbClr val="FFB703"/>
          </a:solidFill>
          <a:ln/>
        </p:spPr>
      </p:sp>
      <p:sp>
        <p:nvSpPr>
          <p:cNvPr id="12" name="Text 9"/>
          <p:cNvSpPr/>
          <p:nvPr/>
        </p:nvSpPr>
        <p:spPr>
          <a:xfrm>
            <a:off x="3465576" y="3200400"/>
            <a:ext cx="2642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 — Modulation Error Ratio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3483864" y="3630168"/>
            <a:ext cx="260604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 попадания точек созвездия 8PSK</a:t>
            </a:r>
            <a:endParaRPr lang="en-US" sz="93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Измеряется в ДЕМОДУЛЯТОРЕ (цифра)</a:t>
            </a:r>
            <a:endParaRPr lang="en-US" sz="93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Учитывает ВСЁ: шум + искажения + фазовый шум + перегруз</a:t>
            </a:r>
            <a:endParaRPr lang="en-US" sz="93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Строже и информативнее, чем C/N</a:t>
            </a:r>
            <a:endParaRPr lang="en-US" sz="93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показатель РЕАЛЬНОГО качества</a:t>
            </a:r>
            <a:endParaRPr lang="en-US" sz="930" dirty="0"/>
          </a:p>
        </p:txBody>
      </p:sp>
      <p:sp>
        <p:nvSpPr>
          <p:cNvPr id="14" name="Shape 11"/>
          <p:cNvSpPr/>
          <p:nvPr/>
        </p:nvSpPr>
        <p:spPr>
          <a:xfrm>
            <a:off x="6400800" y="1051560"/>
            <a:ext cx="2606040" cy="3858768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E3EAF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00800" y="1051560"/>
            <a:ext cx="2606040" cy="457200"/>
          </a:xfrm>
          <a:prstGeom prst="roundRect">
            <a:avLst>
              <a:gd name="adj" fmla="val 16000"/>
            </a:avLst>
          </a:prstGeom>
          <a:solidFill>
            <a:srgbClr val="C62828"/>
          </a:solidFill>
          <a:ln/>
        </p:spPr>
      </p:sp>
      <p:sp>
        <p:nvSpPr>
          <p:cNvPr id="16" name="Text 13"/>
          <p:cNvSpPr/>
          <p:nvPr/>
        </p:nvSpPr>
        <p:spPr>
          <a:xfrm>
            <a:off x="6537960" y="107899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это важно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565392" y="1645920"/>
            <a:ext cx="228600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Слабый сигнал (чистый шум):</a:t>
            </a:r>
            <a:endParaRPr lang="en-US" sz="1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C/N ≈ MER — идут вместе.
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Перегруз / искажения:</a:t>
            </a:r>
            <a:endParaRPr lang="en-US" sz="1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C/N высокий, а MER низкий! Уровень большой — а картинки нет.
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 для АНТ: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Наводи по C/N (быстро), а качество проверяй по MER. Если C/N хороший, а MER низкий — ищи перегруз или искажения.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10896"/>
            <a:ext cx="82296" cy="47548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5603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Поведение C/N, MER, BER по уровням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76072" y="7498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ПОДРОБНАЯ КАРТА 8PSK FEC 3/4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732520" cy="3246120"/>
        </p:xfrm>
        <a:graphic>
          <a:graphicData uri="http://schemas.openxmlformats.org/drawingml/2006/table">
            <a:tbl>
              <a:tblPr/>
              <a:tblGrid>
                <a:gridCol w="1965960"/>
                <a:gridCol w="1051560"/>
                <a:gridCol w="960120"/>
                <a:gridCol w="914400"/>
                <a:gridCol w="1097280"/>
                <a:gridCol w="26974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Уровень / dBmW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C/N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MER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Pre-BER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Post-BER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Что видно на экране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b="1" dirty="0">
                          <a:solidFill>
                            <a:srgbClr val="C62828"/>
                          </a:solidFill>
                        </a:rPr>
                        <a:t>Перегруз  &gt; −25</a:t>
                      </a:r>
                      <a:endParaRPr lang="en-US" sz="9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0A1628"/>
                          </a:solidFill>
                        </a:rPr>
                        <a:t>высокий* ⚠</a:t>
                      </a:r>
                      <a:endParaRPr lang="en-US" sz="9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0A1628"/>
                          </a:solidFill>
                        </a:rPr>
                        <a:t>низкий 5–7</a:t>
                      </a:r>
                      <a:endParaRPr lang="en-US" sz="9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0A1628"/>
                          </a:solidFill>
                        </a:rPr>
                        <a:t>1e−2</a:t>
                      </a:r>
                      <a:endParaRPr lang="en-US" sz="9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0A1628"/>
                          </a:solidFill>
                        </a:rPr>
                        <a:t>≠ 0</a:t>
                      </a:r>
                      <a:endParaRPr lang="en-US" sz="9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C62828"/>
                          </a:solidFill>
                        </a:rPr>
                        <a:t>Чёрный экран / стоп-кадр</a:t>
                      </a:r>
                      <a:endParaRPr lang="en-US" sz="9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b="1" dirty="0">
                          <a:solidFill>
                            <a:srgbClr val="455A64"/>
                          </a:solidFill>
                        </a:rPr>
                        <a:t>Нет сигнала  &lt; −80</a:t>
                      </a:r>
                      <a:endParaRPr lang="en-US" sz="9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0A1628"/>
                          </a:solidFill>
                        </a:rPr>
                        <a:t>&lt; 9.4</a:t>
                      </a:r>
                      <a:endParaRPr lang="en-US" sz="9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0A1628"/>
                          </a:solidFill>
                        </a:rPr>
                        <a:t>&lt; 7</a:t>
                      </a:r>
                      <a:endParaRPr lang="en-US" sz="9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0A1628"/>
                          </a:solidFill>
                        </a:rPr>
                        <a:t>&gt; 1e−2</a:t>
                      </a:r>
                      <a:endParaRPr lang="en-US" sz="9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0A1628"/>
                          </a:solidFill>
                        </a:rPr>
                        <a:t>≠ 0</a:t>
                      </a:r>
                      <a:endParaRPr lang="en-US" sz="9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455A64"/>
                          </a:solidFill>
                        </a:rPr>
                        <a:t>No Lock — тюнер не ловит</a:t>
                      </a:r>
                      <a:endParaRPr lang="en-US" sz="9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b="1" dirty="0">
                          <a:solidFill>
                            <a:srgbClr val="C62828"/>
                          </a:solidFill>
                        </a:rPr>
                        <a:t>Порог  −80…−72</a:t>
                      </a:r>
                      <a:endParaRPr lang="en-US" sz="9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0A1628"/>
                          </a:solidFill>
                        </a:rPr>
                        <a:t>9.4</a:t>
                      </a:r>
                      <a:endParaRPr lang="en-US" sz="9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0A1628"/>
                          </a:solidFill>
                        </a:rPr>
                        <a:t>7</a:t>
                      </a:r>
                      <a:endParaRPr lang="en-US" sz="9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0A1628"/>
                          </a:solidFill>
                        </a:rPr>
                        <a:t>1e−3</a:t>
                      </a:r>
                      <a:endParaRPr lang="en-US" sz="9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0A1628"/>
                          </a:solidFill>
                        </a:rPr>
                        <a:t>редкие сбои</a:t>
                      </a:r>
                      <a:endParaRPr lang="en-US" sz="9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C62828"/>
                          </a:solidFill>
                        </a:rPr>
                        <a:t>Замирания, рассыпается</a:t>
                      </a:r>
                      <a:endParaRPr lang="en-US" sz="9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b="1" dirty="0">
                          <a:solidFill>
                            <a:srgbClr val="E65100"/>
                          </a:solidFill>
                        </a:rPr>
                        <a:t>Cliff-edge  −72…−65</a:t>
                      </a:r>
                      <a:endParaRPr lang="en-US" sz="9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0A1628"/>
                          </a:solidFill>
                        </a:rPr>
                        <a:t>9.4–10.5</a:t>
                      </a:r>
                      <a:endParaRPr lang="en-US" sz="9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0A1628"/>
                          </a:solidFill>
                        </a:rPr>
                        <a:t>7–9</a:t>
                      </a:r>
                      <a:endParaRPr lang="en-US" sz="9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0A1628"/>
                          </a:solidFill>
                        </a:rPr>
                        <a:t>5e−4</a:t>
                      </a:r>
                      <a:endParaRPr lang="en-US" sz="9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0A1628"/>
                          </a:solidFill>
                        </a:rPr>
                        <a:t>иногда &gt; 0</a:t>
                      </a:r>
                      <a:endParaRPr lang="en-US" sz="9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E65100"/>
                          </a:solidFill>
                        </a:rPr>
                        <a:t>Квадраты, звук заикается</a:t>
                      </a:r>
                      <a:endParaRPr lang="en-US" sz="9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b="1" dirty="0">
                          <a:solidFill>
                            <a:srgbClr val="B7791F"/>
                          </a:solidFill>
                        </a:rPr>
                        <a:t>QEF (порог QEF)  ≈ −63</a:t>
                      </a:r>
                      <a:endParaRPr lang="en-US" sz="9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0A1628"/>
                          </a:solidFill>
                        </a:rPr>
                        <a:t>10.5</a:t>
                      </a:r>
                      <a:endParaRPr lang="en-US" sz="9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0A1628"/>
                          </a:solidFill>
                        </a:rPr>
                        <a:t>9.5</a:t>
                      </a:r>
                      <a:endParaRPr lang="en-US" sz="9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0A1628"/>
                          </a:solidFill>
                        </a:rPr>
                        <a:t>2e−4</a:t>
                      </a:r>
                      <a:endParaRPr lang="en-US" sz="9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0A1628"/>
                          </a:solidFill>
                        </a:rPr>
                        <a:t>≈ 0 (граница)</a:t>
                      </a:r>
                      <a:endParaRPr lang="en-US" sz="9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B7791F"/>
                          </a:solidFill>
                        </a:rPr>
                        <a:t>1 ошибка в час — норма ЦТВ</a:t>
                      </a:r>
                      <a:endParaRPr lang="en-US" sz="9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b="1" dirty="0">
                          <a:solidFill>
                            <a:srgbClr val="2E7D32"/>
                          </a:solidFill>
                        </a:rPr>
                        <a:t>Рабочая  −65…−45</a:t>
                      </a:r>
                      <a:endParaRPr lang="en-US" sz="9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0A1628"/>
                          </a:solidFill>
                        </a:rPr>
                        <a:t>11.4–13</a:t>
                      </a:r>
                      <a:endParaRPr lang="en-US" sz="9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0A1628"/>
                          </a:solidFill>
                        </a:rPr>
                        <a:t>10–12</a:t>
                      </a:r>
                      <a:endParaRPr lang="en-US" sz="9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0A1628"/>
                          </a:solidFill>
                        </a:rPr>
                        <a:t>&lt; 1e−4</a:t>
                      </a:r>
                      <a:endParaRPr lang="en-US" sz="9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0A1628"/>
                          </a:solidFill>
                        </a:rPr>
                        <a:t>= 0</a:t>
                      </a:r>
                      <a:endParaRPr lang="en-US" sz="9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2E7D32"/>
                          </a:solidFill>
                        </a:rPr>
                        <a:t>Чистая картинка</a:t>
                      </a:r>
                      <a:endParaRPr lang="en-US" sz="9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b="1" dirty="0">
                          <a:solidFill>
                            <a:srgbClr val="2E7D32"/>
                          </a:solidFill>
                        </a:rPr>
                        <a:t>Оптимум  ≈ −50</a:t>
                      </a:r>
                      <a:endParaRPr lang="en-US" sz="9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0A1628"/>
                          </a:solidFill>
                        </a:rPr>
                        <a:t>13–15</a:t>
                      </a:r>
                      <a:endParaRPr lang="en-US" sz="9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0A1628"/>
                          </a:solidFill>
                        </a:rPr>
                        <a:t>12–14</a:t>
                      </a:r>
                      <a:endParaRPr lang="en-US" sz="9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0A1628"/>
                          </a:solidFill>
                        </a:rPr>
                        <a:t>&lt; 1e−5</a:t>
                      </a:r>
                      <a:endParaRPr lang="en-US" sz="9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0A1628"/>
                          </a:solidFill>
                        </a:rPr>
                        <a:t>= 0</a:t>
                      </a:r>
                      <a:endParaRPr lang="en-US" sz="9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2E7D32"/>
                          </a:solidFill>
                        </a:rPr>
                        <a:t>Идеально + запас на дождь</a:t>
                      </a:r>
                      <a:endParaRPr lang="en-US" sz="9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b="1" dirty="0">
                          <a:solidFill>
                            <a:srgbClr val="2E7D32"/>
                          </a:solidFill>
                        </a:rPr>
                        <a:t>Отличная  −45…−35</a:t>
                      </a:r>
                      <a:endParaRPr lang="en-US" sz="9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0A1628"/>
                          </a:solidFill>
                        </a:rPr>
                        <a:t>&gt; 15</a:t>
                      </a:r>
                      <a:endParaRPr lang="en-US" sz="9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0A1628"/>
                          </a:solidFill>
                        </a:rPr>
                        <a:t>&gt; 14</a:t>
                      </a:r>
                      <a:endParaRPr lang="en-US" sz="9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0A1628"/>
                          </a:solidFill>
                        </a:rPr>
                        <a:t>&lt; 1e−6</a:t>
                      </a:r>
                      <a:endParaRPr lang="en-US" sz="9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0A1628"/>
                          </a:solidFill>
                        </a:rPr>
                        <a:t>= 0</a:t>
                      </a:r>
                      <a:endParaRPr lang="en-US" sz="9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2E7D32"/>
                          </a:solidFill>
                        </a:rPr>
                        <a:t>Максимальный запас</a:t>
                      </a:r>
                      <a:endParaRPr lang="en-US" sz="9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4343400"/>
            <a:ext cx="8732520" cy="566928"/>
          </a:xfrm>
          <a:prstGeom prst="roundRect">
            <a:avLst>
              <a:gd name="adj" fmla="val 12903"/>
            </a:avLst>
          </a:prstGeom>
          <a:solidFill>
            <a:srgbClr val="FFF8E7"/>
          </a:solidFill>
          <a:ln w="9525">
            <a:solidFill>
              <a:srgbClr val="E3EAF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8640" y="4370832"/>
            <a:ext cx="8366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Важно:  </a:t>
            </a:r>
            <a:pPr indent="0" marL="0">
              <a:buNone/>
            </a:pPr>
            <a:r>
              <a:rPr lang="en-US" sz="11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перегрузе C/N может показывать высокое значение, но MER низкий и Post-BER ≠ 0. Поэтому качество всегда проверяем по MER и Post-BER, а не только по C/N или Level.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10896"/>
            <a:ext cx="82296" cy="47548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5603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График: как BER падает с ростом C/N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76072" y="7498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ЭФФЕКТ ОБРЫВА (CLIFF)</a:t>
            </a:r>
            <a:endParaRPr lang="en-US" sz="1100" dirty="0"/>
          </a:p>
        </p:txBody>
      </p:sp>
      <p:pic>
        <p:nvPicPr>
          <p:cNvPr id="5" name="Image 0" descr="d_cli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5989320" cy="3154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46520" y="1051560"/>
            <a:ext cx="2560320" cy="3886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3EAF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46520" y="1051560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1565C0"/>
          </a:solidFill>
          <a:ln/>
        </p:spPr>
      </p:sp>
      <p:sp>
        <p:nvSpPr>
          <p:cNvPr id="8" name="Text 5"/>
          <p:cNvSpPr/>
          <p:nvPr/>
        </p:nvSpPr>
        <p:spPr>
          <a:xfrm>
            <a:off x="6583680" y="1078992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показывает график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601968" y="1645920"/>
            <a:ext cx="2249424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Цифровой сигнал не «слабеет» плавно, как аналог.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Выше порога:</a:t>
            </a:r>
            <a:endParaRPr lang="en-US" sz="1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Post-BER = 0, картинка идеальна — и не улучшается дальше.
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порога (9.4 дБ):</a:t>
            </a:r>
            <a:endParaRPr lang="en-US" sz="1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доли дБ BER лавиной растёт — блоки, замирания.
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Ниже порога:</a:t>
            </a:r>
            <a:endParaRPr lang="en-US" sz="10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картинка пропадает целиком (обрыв).
</a:t>
            </a:r>
            <a:endParaRPr lang="en-US" sz="1000" dirty="0"/>
          </a:p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Поэтому держим запас +2 дБ над порогом (11.4 дБ) — на дождь и помехи.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00B4D8">
                    <a:alpha val="2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566928" y="2697480"/>
            <a:ext cx="640080" cy="54864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8346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Поляризация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66928" y="3703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Поворот конвертора по кругу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10896"/>
            <a:ext cx="82296" cy="47548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5603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Поляризация и поворот конвертора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76072" y="7498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13В / 18В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16052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E3EAF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4160520" cy="402336"/>
          </a:xfrm>
          <a:prstGeom prst="roundRect">
            <a:avLst>
              <a:gd name="adj" fmla="val 18182"/>
            </a:avLst>
          </a:prstGeom>
          <a:solidFill>
            <a:srgbClr val="0D2B55"/>
          </a:solidFill>
          <a:ln/>
        </p:spPr>
      </p:sp>
      <p:sp>
        <p:nvSpPr>
          <p:cNvPr id="7" name="Text 5"/>
          <p:cNvSpPr/>
          <p:nvPr/>
        </p:nvSpPr>
        <p:spPr>
          <a:xfrm>
            <a:off x="603504" y="112471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Вертикальная vs Горизонтальная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234440" y="1691640"/>
            <a:ext cx="109728" cy="9144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606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565C0"/>
                </a:solidFill>
              </a:rPr>
              <a:t>⬆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5800" y="29260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91693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13В · Верт.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38328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Зазор конвертора вертикальный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Поворот LNB: 0°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0" y="2103120"/>
            <a:ext cx="914400" cy="109728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14" name="Text 12"/>
          <p:cNvSpPr/>
          <p:nvPr/>
        </p:nvSpPr>
        <p:spPr>
          <a:xfrm>
            <a:off x="2926080" y="2606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B703"/>
                </a:solidFill>
              </a:rPr>
              <a:t>↔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697480" y="29260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FFB703"/>
          </a:solidFill>
          <a:ln/>
        </p:spPr>
      </p:sp>
      <p:sp>
        <p:nvSpPr>
          <p:cNvPr id="16" name="Text 14"/>
          <p:cNvSpPr/>
          <p:nvPr/>
        </p:nvSpPr>
        <p:spPr>
          <a:xfrm>
            <a:off x="2697480" y="291693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18В · Гор.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51760" y="338328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Зазор конвертора горизонтальный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Поворот LNB: 90°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" y="4297680"/>
            <a:ext cx="3886200" cy="530352"/>
          </a:xfrm>
          <a:prstGeom prst="roundRect">
            <a:avLst>
              <a:gd name="adj" fmla="val 13793"/>
            </a:avLst>
          </a:prstGeom>
          <a:solidFill>
            <a:srgbClr val="FFF8E7"/>
          </a:solidFill>
          <a:ln w="9525">
            <a:solidFill>
              <a:srgbClr val="E3EAF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31520" y="4325112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системе АНТ — одна поляризация на транспондер. Задаётся в меню ресивера: 13В или 18В.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46320" y="1097280"/>
            <a:ext cx="416052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E3EAF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1097280"/>
            <a:ext cx="4160520" cy="402336"/>
          </a:xfrm>
          <a:prstGeom prst="roundRect">
            <a:avLst>
              <a:gd name="adj" fmla="val 18182"/>
            </a:avLst>
          </a:prstGeom>
          <a:solidFill>
            <a:srgbClr val="1565C0"/>
          </a:solidFill>
          <a:ln/>
        </p:spPr>
      </p:sp>
      <p:sp>
        <p:nvSpPr>
          <p:cNvPr id="22" name="Text 20"/>
          <p:cNvSpPr/>
          <p:nvPr/>
        </p:nvSpPr>
        <p:spPr>
          <a:xfrm>
            <a:off x="4992624" y="112471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Поворот конвертора по кругу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159752" y="2039112"/>
            <a:ext cx="1316736" cy="1316736"/>
          </a:xfrm>
          <a:prstGeom prst="ellipse">
            <a:avLst/>
          </a:prstGeom>
          <a:solidFill>
            <a:srgbClr val="EBF5FB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81544" y="2093976"/>
            <a:ext cx="73152" cy="513527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5" name="Shape 23"/>
          <p:cNvSpPr/>
          <p:nvPr/>
        </p:nvSpPr>
        <p:spPr>
          <a:xfrm>
            <a:off x="7854696" y="2660904"/>
            <a:ext cx="513527" cy="73152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26" name="Shape 24"/>
          <p:cNvSpPr/>
          <p:nvPr/>
        </p:nvSpPr>
        <p:spPr>
          <a:xfrm>
            <a:off x="7571232" y="2450592"/>
            <a:ext cx="493776" cy="493776"/>
          </a:xfrm>
          <a:prstGeom prst="ellipse">
            <a:avLst/>
          </a:prstGeom>
          <a:solidFill>
            <a:srgbClr val="00B4D8">
              <a:alpha val="4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7571232" y="2478024"/>
            <a:ext cx="493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↻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178040" y="17647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5C0"/>
                </a:solidFill>
              </a:rPr>
              <a:t>0° верт.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494776" y="2441448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7791F"/>
                </a:solidFill>
              </a:rPr>
              <a:t>90°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B7791F"/>
                </a:solidFill>
              </a:rPr>
              <a:t>гор.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29200" y="3657600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Конвертор имеет поляризационный зазор (slot)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0° — принимает вертикальную поляризацию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90° — принимает горизонтальную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Промежуточный угол = потеря −2…20 дБ!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Крути LNB по кругу до максимума C/N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00B4D8">
                    <a:alpha val="2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566928" y="2697480"/>
            <a:ext cx="640080" cy="54864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8346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 наводки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66928" y="3703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Пошаговый алгоритм на передатчик АНТ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10896"/>
            <a:ext cx="82296" cy="47548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5603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Пошаговая наводка офсетной тарелки 60 см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76072" y="7498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АЗИМУТА ДО ПЕРВОГО КАНАЛА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233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E3EAF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566928" cy="841248"/>
          </a:xfrm>
          <a:prstGeom prst="roundRect">
            <a:avLst>
              <a:gd name="adj" fmla="val 12903"/>
            </a:avLst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3560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52144" y="128016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Направь тарелку в сторону передатчика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52144" y="157276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Передатчик АНТ — наземная вышка. Поверни антенну к ней (прямая видимость).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40233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E3EAF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148840"/>
            <a:ext cx="566928" cy="841248"/>
          </a:xfrm>
          <a:prstGeom prst="roundRect">
            <a:avLst>
              <a:gd name="adj" fmla="val 12903"/>
            </a:avLst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9572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52144" y="224028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Закрепи грубо в этом направлении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52144" y="253288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Офсет стоит почти вертикально — это норма.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40233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E3EAF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108960"/>
            <a:ext cx="566928" cy="841248"/>
          </a:xfrm>
          <a:prstGeom prst="roundRect">
            <a:avLst>
              <a:gd name="adj" fmla="val 12903"/>
            </a:avLst>
          </a:prstGeom>
          <a:solidFill>
            <a:srgbClr val="1565C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35584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52144" y="320040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Подключи кабель RG-6 и ресивер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52144" y="349300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≤30 м, плотный F-коннектор, кабель → LNB IN.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4069080"/>
            <a:ext cx="40233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E3EAF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4069080"/>
            <a:ext cx="566928" cy="841248"/>
          </a:xfrm>
          <a:prstGeom prst="roundRect">
            <a:avLst>
              <a:gd name="adj" fmla="val 12903"/>
            </a:avLst>
          </a:prstGeom>
          <a:solidFill>
            <a:srgbClr val="1976D2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31596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152144" y="416052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Открой меню сигнала ресивера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52144" y="445312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(dBmW), C/N, MER, BER — страница диагностики.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1188720"/>
            <a:ext cx="40233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E3EAF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1188720"/>
            <a:ext cx="566928" cy="841248"/>
          </a:xfrm>
          <a:prstGeom prst="roundRect">
            <a:avLst>
              <a:gd name="adj" fmla="val 12903"/>
            </a:avLst>
          </a:prstGeom>
          <a:solidFill>
            <a:srgbClr val="E65100"/>
          </a:solidFill>
          <a:ln/>
        </p:spPr>
      </p:sp>
      <p:sp>
        <p:nvSpPr>
          <p:cNvPr id="27" name="Text 25"/>
          <p:cNvSpPr/>
          <p:nvPr/>
        </p:nvSpPr>
        <p:spPr>
          <a:xfrm>
            <a:off x="4663440" y="143560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358384" y="128016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Наводи по C/N, НЕ по Level!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58384" y="157276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Медленно по 1–2° по азимуту, затем элевация. Цель C/N &gt; 11.4 дБ.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2148840"/>
            <a:ext cx="40233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E3EAF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2148840"/>
            <a:ext cx="566928" cy="841248"/>
          </a:xfrm>
          <a:prstGeom prst="roundRect">
            <a:avLst>
              <a:gd name="adj" fmla="val 12903"/>
            </a:avLst>
          </a:prstGeom>
          <a:solidFill>
            <a:srgbClr val="C62828"/>
          </a:solidFill>
          <a:ln/>
        </p:spPr>
      </p:sp>
      <p:sp>
        <p:nvSpPr>
          <p:cNvPr id="32" name="Text 30"/>
          <p:cNvSpPr/>
          <p:nvPr/>
        </p:nvSpPr>
        <p:spPr>
          <a:xfrm>
            <a:off x="4663440" y="239572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358384" y="224028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Поверни конвертор по кругу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58384" y="253288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максимума C/N — настройка поляризации.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63440" y="3108960"/>
            <a:ext cx="40233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E3EAF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3108960"/>
            <a:ext cx="566928" cy="841248"/>
          </a:xfrm>
          <a:prstGeom prst="roundRect">
            <a:avLst>
              <a:gd name="adj" fmla="val 12903"/>
            </a:avLst>
          </a:prstGeom>
          <a:solidFill>
            <a:srgbClr val="2E7D32"/>
          </a:solidFill>
          <a:ln/>
        </p:spPr>
      </p:sp>
      <p:sp>
        <p:nvSpPr>
          <p:cNvPr id="37" name="Text 35"/>
          <p:cNvSpPr/>
          <p:nvPr/>
        </p:nvSpPr>
        <p:spPr>
          <a:xfrm>
            <a:off x="4663440" y="335584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7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5358384" y="320040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Проверь качество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358384" y="349300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C/N ≥ 11.4 дБ · MER ≥ 10 дБ · Post-BER = 0.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63440" y="4069080"/>
            <a:ext cx="40233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E3EAF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63440" y="4069080"/>
            <a:ext cx="566928" cy="841248"/>
          </a:xfrm>
          <a:prstGeom prst="roundRect">
            <a:avLst>
              <a:gd name="adj" fmla="val 12903"/>
            </a:avLst>
          </a:prstGeom>
          <a:solidFill>
            <a:srgbClr val="2E7D32"/>
          </a:solidFill>
          <a:ln/>
        </p:spPr>
      </p:sp>
      <p:sp>
        <p:nvSpPr>
          <p:cNvPr id="42" name="Text 40"/>
          <p:cNvSpPr/>
          <p:nvPr/>
        </p:nvSpPr>
        <p:spPr>
          <a:xfrm>
            <a:off x="4663440" y="431596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5358384" y="416052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Закрепи болты + сканируй каналы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358384" y="445312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Ветер сдвигает тарелку. Запусти поиск каналов АНТ.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Вопросы?</a:t>
            </a:r>
            <a:endParaRPr lang="en-US" sz="58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2377440" cy="54864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 — настроим вместе!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66928" y="2459736"/>
            <a:ext cx="146304" cy="14630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3865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АНТ — наземный передатчик, не спутник. Прямая видимость на вышку.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2843784"/>
            <a:ext cx="146304" cy="14630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277063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Офсет 60 см: луч приходит на ~22° выше оси, фокусируется на LNB снизу тарелки.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3227832"/>
            <a:ext cx="146304" cy="14630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3154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8PSK FEC 3/4: порог C/N = 9.4 дБ, рабочий минимум 11.4 дБ, Post-BER всегда = 0.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3611880"/>
            <a:ext cx="146304" cy="14630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353872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в dBmW: рабочая зона −65…−35, цель ≈ −50. Перегруз (&gt; −25) = нет картинки → аттенюатор.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3995928"/>
            <a:ext cx="146304" cy="14630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392277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Кабель RG-6: крыша даёт −40 dBmW, после 15–30 м в квартире −45 dBmW — это нормально.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4379976"/>
            <a:ext cx="146304" cy="14630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430682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Поворот конвертора по кругу = поляризация. Крути до максимума C/N. DiSEqC не нужен.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4800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АНТ · DVB-S2 · 8PSK FEC 3/4 · 4 июня 2025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АНТ DVB-S2 Masterclass</dc:title>
  <dc:subject>PptxGenJS Presentation</dc:subject>
  <dc:creator>PptxGenJS</dc:creator>
  <cp:lastModifiedBy>PptxGenJS</cp:lastModifiedBy>
  <cp:revision>1</cp:revision>
  <dcterms:created xsi:type="dcterms:W3CDTF">2026-06-03T13:53:12Z</dcterms:created>
  <dcterms:modified xsi:type="dcterms:W3CDTF">2026-06-03T13:53:12Z</dcterms:modified>
</cp:coreProperties>
</file>